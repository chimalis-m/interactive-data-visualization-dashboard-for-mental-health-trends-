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9"/>
  </p:notesMasterIdLst>
  <p:sldIdLst>
    <p:sldId id="256" r:id="rId2"/>
    <p:sldId id="281" r:id="rId3"/>
    <p:sldId id="258" r:id="rId4"/>
    <p:sldId id="267" r:id="rId5"/>
    <p:sldId id="270" r:id="rId6"/>
    <p:sldId id="280" r:id="rId7"/>
    <p:sldId id="282" r:id="rId8"/>
    <p:sldId id="286" r:id="rId9"/>
    <p:sldId id="287" r:id="rId10"/>
    <p:sldId id="268" r:id="rId11"/>
    <p:sldId id="272" r:id="rId12"/>
    <p:sldId id="288" r:id="rId13"/>
    <p:sldId id="274" r:id="rId14"/>
    <p:sldId id="275" r:id="rId15"/>
    <p:sldId id="279" r:id="rId16"/>
    <p:sldId id="276" r:id="rId17"/>
    <p:sldId id="27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77"/>
  </p:normalViewPr>
  <p:slideViewPr>
    <p:cSldViewPr snapToGrid="0">
      <p:cViewPr varScale="1">
        <p:scale>
          <a:sx n="93" d="100"/>
          <a:sy n="93" d="100"/>
        </p:scale>
        <p:origin x="21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38571-6A7C-D64B-A80A-1B2391A56F61}" type="datetimeFigureOut">
              <a:rPr lang="en-VU" smtClean="0"/>
              <a:t>21/05/2026</a:t>
            </a:fld>
            <a:endParaRPr lang="en-V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1053A-6822-AB44-8676-FBA23B4D32EF}" type="slidenum">
              <a:rPr lang="en-VU" smtClean="0"/>
              <a:t>‹#›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194330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1053A-6822-AB44-8676-FBA23B4D32EF}" type="slidenum">
              <a:rPr lang="en-VU" smtClean="0"/>
              <a:t>2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19556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1053A-6822-AB44-8676-FBA23B4D32EF}" type="slidenum">
              <a:rPr lang="en-VU" smtClean="0"/>
              <a:t>4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1129912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1053A-6822-AB44-8676-FBA23B4D32EF}" type="slidenum">
              <a:rPr lang="en-VU" smtClean="0"/>
              <a:t>6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3738575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1053A-6822-AB44-8676-FBA23B4D32EF}" type="slidenum">
              <a:rPr lang="en-VU" smtClean="0"/>
              <a:t>7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3367485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37EB-A84E-94DB-8B27-B224DA60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A070E-4F74-FCA9-26B7-FD7A4628F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35F19-135E-23AE-7584-B1030238A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C9CA7-757C-C803-6993-AF9C97666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1053A-6822-AB44-8676-FBA23B4D32EF}" type="slidenum">
              <a:rPr lang="en-VU" smtClean="0"/>
              <a:t>8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3509438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3C808-86EB-DB5E-969D-AC422511D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8A5F4-81D7-F223-F4EF-469F9B2D2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C1B7A-42D3-CEF0-5528-0E5D88660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664B4-669C-7020-9E42-B15E1C2E0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1053A-6822-AB44-8676-FBA23B4D32EF}" type="slidenum">
              <a:rPr lang="en-VU" smtClean="0"/>
              <a:t>9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4119240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1053A-6822-AB44-8676-FBA23B4D32EF}" type="slidenum">
              <a:rPr lang="en-VU" smtClean="0"/>
              <a:t>10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510395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75C20-108B-5810-AFA5-BE13FDA83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747CC-BAF6-C6C8-1201-8FECBDE0F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0ADBE-2C30-2814-E3F0-DD7D752BC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U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C9D16-4124-1DAE-2BD5-6E28C97E7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1053A-6822-AB44-8676-FBA23B4D32EF}" type="slidenum">
              <a:rPr lang="en-VU" smtClean="0"/>
              <a:t>12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2960647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1053A-6822-AB44-8676-FBA23B4D32EF}" type="slidenum">
              <a:rPr lang="en-VU" smtClean="0"/>
              <a:t>13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1846176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1053A-6822-AB44-8676-FBA23B4D32EF}" type="slidenum">
              <a:rPr lang="en-VU" smtClean="0"/>
              <a:t>14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3450462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1053A-6822-AB44-8676-FBA23B4D32EF}" type="slidenum">
              <a:rPr lang="en-VU" smtClean="0"/>
              <a:t>15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1237670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1053A-6822-AB44-8676-FBA23B4D32EF}" type="slidenum">
              <a:rPr lang="en-VU" smtClean="0"/>
              <a:t>16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340971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98BA-31C2-9648-96E0-0BB32234E69C}" type="datetimeFigureOut">
              <a:rPr lang="en-VU" smtClean="0"/>
              <a:t>21/05/2026</a:t>
            </a:fld>
            <a:endParaRPr lang="en-V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D12-9406-6E4A-9989-4D436EBD554B}" type="slidenum">
              <a:rPr lang="en-VU" smtClean="0"/>
              <a:t>‹#›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105273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98BA-31C2-9648-96E0-0BB32234E69C}" type="datetimeFigureOut">
              <a:rPr lang="en-VU" smtClean="0"/>
              <a:t>21/05/2026</a:t>
            </a:fld>
            <a:endParaRPr lang="en-V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D12-9406-6E4A-9989-4D436EBD554B}" type="slidenum">
              <a:rPr lang="en-VU" smtClean="0"/>
              <a:t>‹#›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2882033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98BA-31C2-9648-96E0-0BB32234E69C}" type="datetimeFigureOut">
              <a:rPr lang="en-VU" smtClean="0"/>
              <a:t>21/05/2026</a:t>
            </a:fld>
            <a:endParaRPr lang="en-V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D12-9406-6E4A-9989-4D436EBD554B}" type="slidenum">
              <a:rPr lang="en-VU" smtClean="0"/>
              <a:t>‹#›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65186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98BA-31C2-9648-96E0-0BB32234E69C}" type="datetimeFigureOut">
              <a:rPr lang="en-VU" smtClean="0"/>
              <a:t>21/05/2026</a:t>
            </a:fld>
            <a:endParaRPr lang="en-V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D12-9406-6E4A-9989-4D436EBD554B}" type="slidenum">
              <a:rPr lang="en-VU" smtClean="0"/>
              <a:t>‹#›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299783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98BA-31C2-9648-96E0-0BB32234E69C}" type="datetimeFigureOut">
              <a:rPr lang="en-VU" smtClean="0"/>
              <a:t>21/05/2026</a:t>
            </a:fld>
            <a:endParaRPr lang="en-V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D12-9406-6E4A-9989-4D436EBD554B}" type="slidenum">
              <a:rPr lang="en-VU" smtClean="0"/>
              <a:t>‹#›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3112254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98BA-31C2-9648-96E0-0BB32234E69C}" type="datetimeFigureOut">
              <a:rPr lang="en-VU" smtClean="0"/>
              <a:t>21/05/2026</a:t>
            </a:fld>
            <a:endParaRPr lang="en-V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D12-9406-6E4A-9989-4D436EBD554B}" type="slidenum">
              <a:rPr lang="en-VU" smtClean="0"/>
              <a:t>‹#›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1735639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98BA-31C2-9648-96E0-0BB32234E69C}" type="datetimeFigureOut">
              <a:rPr lang="en-VU" smtClean="0"/>
              <a:t>21/05/2026</a:t>
            </a:fld>
            <a:endParaRPr lang="en-V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D12-9406-6E4A-9989-4D436EBD554B}" type="slidenum">
              <a:rPr lang="en-VU" smtClean="0"/>
              <a:t>‹#›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321090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98BA-31C2-9648-96E0-0BB32234E69C}" type="datetimeFigureOut">
              <a:rPr lang="en-VU" smtClean="0"/>
              <a:t>21/05/2026</a:t>
            </a:fld>
            <a:endParaRPr lang="en-V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D12-9406-6E4A-9989-4D436EBD554B}" type="slidenum">
              <a:rPr lang="en-VU" smtClean="0"/>
              <a:t>‹#›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1161261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98BA-31C2-9648-96E0-0BB32234E69C}" type="datetimeFigureOut">
              <a:rPr lang="en-VU" smtClean="0"/>
              <a:t>21/05/2026</a:t>
            </a:fld>
            <a:endParaRPr lang="en-V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D12-9406-6E4A-9989-4D436EBD554B}" type="slidenum">
              <a:rPr lang="en-VU" smtClean="0"/>
              <a:t>‹#›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1752065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98BA-31C2-9648-96E0-0BB32234E69C}" type="datetimeFigureOut">
              <a:rPr lang="en-VU" smtClean="0"/>
              <a:t>21/05/2026</a:t>
            </a:fld>
            <a:endParaRPr lang="en-V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D12-9406-6E4A-9989-4D436EBD554B}" type="slidenum">
              <a:rPr lang="en-VU" smtClean="0"/>
              <a:t>‹#›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316602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98BA-31C2-9648-96E0-0BB32234E69C}" type="datetimeFigureOut">
              <a:rPr lang="en-VU" smtClean="0"/>
              <a:t>21/05/2026</a:t>
            </a:fld>
            <a:endParaRPr lang="en-V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D12-9406-6E4A-9989-4D436EBD554B}" type="slidenum">
              <a:rPr lang="en-VU" smtClean="0"/>
              <a:t>‹#›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187170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898BA-31C2-9648-96E0-0BB32234E69C}" type="datetimeFigureOut">
              <a:rPr lang="en-VU" smtClean="0"/>
              <a:t>21/05/2026</a:t>
            </a:fld>
            <a:endParaRPr lang="en-V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56D12-9406-6E4A-9989-4D436EBD554B}" type="slidenum">
              <a:rPr lang="en-VU" smtClean="0"/>
              <a:t>‹#›</a:t>
            </a:fld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2995511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cdc.gov/Mental-Health/National-Health-Interview-Survey-NHIS-Mental-Healt/d89q-62iu/about_data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.cdc.gov/Mental-Health/National-Syndromic-Surveillance-Program-NSSP-Menta/eze9-ahe5/about_data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6ABB-BC5A-229E-2BEA-BE2FF178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090" y="1327759"/>
            <a:ext cx="11914909" cy="1866378"/>
          </a:xfrm>
        </p:spPr>
        <p:txBody>
          <a:bodyPr>
            <a:noAutofit/>
          </a:bodyPr>
          <a:lstStyle/>
          <a:p>
            <a:r>
              <a:rPr lang="en-VU" sz="4000" dirty="0"/>
              <a:t>DIGITAL SCREENING APP FOR A HEALTHIER CAMPUS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5556A-1D87-9F36-1F2E-20D7D268F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3222" y="4299513"/>
            <a:ext cx="5035463" cy="1390388"/>
          </a:xfrm>
        </p:spPr>
        <p:txBody>
          <a:bodyPr>
            <a:normAutofit/>
          </a:bodyPr>
          <a:lstStyle/>
          <a:p>
            <a:pPr algn="l"/>
            <a:r>
              <a:rPr lang="en-VU" sz="1600"/>
              <a:t>CHIMALIS C. MUSHAMBI</a:t>
            </a:r>
          </a:p>
          <a:p>
            <a:pPr algn="l"/>
            <a:r>
              <a:rPr lang="en-VU" sz="1600"/>
              <a:t>UNIVERSITY OF NORTH TEXAS</a:t>
            </a:r>
          </a:p>
          <a:p>
            <a:pPr algn="l"/>
            <a:r>
              <a:rPr lang="en-VU" sz="1600"/>
              <a:t>ADTA 5250 SECTION 001 – LARGE DATA VISUALIZATION</a:t>
            </a:r>
          </a:p>
          <a:p>
            <a:pPr algn="l"/>
            <a:r>
              <a:rPr lang="en-VU" sz="1600"/>
              <a:t>NOVEMBER 18, 2025</a:t>
            </a:r>
          </a:p>
        </p:txBody>
      </p:sp>
    </p:spTree>
    <p:extLst>
      <p:ext uri="{BB962C8B-B14F-4D97-AF65-F5344CB8AC3E}">
        <p14:creationId xmlns:p14="http://schemas.microsoft.com/office/powerpoint/2010/main" val="3533483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38F3C-9E9A-F060-8977-D8AF7E53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U"/>
              <a:t>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2E098-5864-8074-B9C2-407436B83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U"/>
              <a:t>Mental health and related issues</a:t>
            </a:r>
          </a:p>
          <a:p>
            <a:r>
              <a:rPr lang="en-VU"/>
              <a:t>Identify mental health trends and patterns</a:t>
            </a:r>
          </a:p>
          <a:p>
            <a:r>
              <a:rPr lang="en-VU"/>
              <a:t>Discuss data- driven insights </a:t>
            </a:r>
          </a:p>
          <a:p>
            <a:r>
              <a:rPr lang="en-VU"/>
              <a:t>Digital- screening app</a:t>
            </a:r>
          </a:p>
          <a:p>
            <a:r>
              <a:rPr lang="en-VU"/>
              <a:t>Potential impacts of adopting a digital screening app.</a:t>
            </a:r>
          </a:p>
        </p:txBody>
      </p:sp>
    </p:spTree>
    <p:extLst>
      <p:ext uri="{BB962C8B-B14F-4D97-AF65-F5344CB8AC3E}">
        <p14:creationId xmlns:p14="http://schemas.microsoft.com/office/powerpoint/2010/main" val="407187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D8243-3620-3B01-1547-EF4B86079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U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7ADA2-68AF-292F-11FB-F5BA67BEF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1730"/>
            <a:ext cx="10515600" cy="4385233"/>
          </a:xfrm>
        </p:spPr>
        <p:txBody>
          <a:bodyPr/>
          <a:lstStyle/>
          <a:p>
            <a:pPr marL="0" indent="0">
              <a:buNone/>
            </a:pPr>
            <a:r>
              <a:rPr lang="en-VU"/>
              <a:t>The number of college students, suffering from </a:t>
            </a:r>
            <a:r>
              <a:rPr lang="en-VU">
                <a:solidFill>
                  <a:srgbClr val="0070C0"/>
                </a:solidFill>
              </a:rPr>
              <a:t>mental health</a:t>
            </a:r>
            <a:r>
              <a:rPr lang="en-VU"/>
              <a:t> related issues is </a:t>
            </a:r>
            <a:r>
              <a:rPr lang="en-VU">
                <a:solidFill>
                  <a:srgbClr val="0070C0"/>
                </a:solidFill>
              </a:rPr>
              <a:t>increasing</a:t>
            </a:r>
            <a:r>
              <a:rPr lang="en-VU"/>
              <a:t>. </a:t>
            </a:r>
          </a:p>
          <a:p>
            <a:pPr marL="0" indent="0">
              <a:buNone/>
            </a:pPr>
            <a:r>
              <a:rPr lang="en-VU"/>
              <a:t>Students struggle silently from anxiety, depression and these issues go unnoticed until the student is overwhelmed and in crisis.   </a:t>
            </a:r>
          </a:p>
        </p:txBody>
      </p:sp>
    </p:spTree>
    <p:extLst>
      <p:ext uri="{BB962C8B-B14F-4D97-AF65-F5344CB8AC3E}">
        <p14:creationId xmlns:p14="http://schemas.microsoft.com/office/powerpoint/2010/main" val="3746722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6E701-81B7-B683-8C70-4CFC8164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VU" sz="3400"/>
              <a:t>Common mental health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2BA8E-F66E-69E3-F952-66F901542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4060"/>
            <a:ext cx="10515600" cy="4222903"/>
          </a:xfrm>
        </p:spPr>
        <p:txBody>
          <a:bodyPr>
            <a:normAutofit/>
          </a:bodyPr>
          <a:lstStyle/>
          <a:p>
            <a:r>
              <a:rPr lang="en-VU" sz="2400"/>
              <a:t>Stress (sleep deprivation, PTSD</a:t>
            </a:r>
          </a:p>
          <a:p>
            <a:r>
              <a:rPr lang="en-VU" sz="2400"/>
              <a:t>Anxiety</a:t>
            </a:r>
          </a:p>
          <a:p>
            <a:r>
              <a:rPr lang="en-VU" sz="2400"/>
              <a:t>Depression</a:t>
            </a:r>
          </a:p>
          <a:p>
            <a:r>
              <a:rPr lang="en-VU" sz="2400"/>
              <a:t>Bipolar disorder </a:t>
            </a:r>
          </a:p>
          <a:p>
            <a:r>
              <a:rPr lang="en-VU" sz="2400"/>
              <a:t>Suicidal ideation</a:t>
            </a:r>
          </a:p>
        </p:txBody>
      </p:sp>
    </p:spTree>
    <p:extLst>
      <p:ext uri="{BB962C8B-B14F-4D97-AF65-F5344CB8AC3E}">
        <p14:creationId xmlns:p14="http://schemas.microsoft.com/office/powerpoint/2010/main" val="196587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38871-51CE-3F1D-A8D8-BB680DE8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U"/>
              <a:t>The Hidden Struggle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1E5B9-F464-A404-A2F4-D346A9D71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U"/>
              <a:t>Stress is masked as productivity. </a:t>
            </a:r>
          </a:p>
          <a:p>
            <a:r>
              <a:rPr lang="en-VU"/>
              <a:t>Anxiety and sleep deprivation.</a:t>
            </a:r>
          </a:p>
          <a:p>
            <a:r>
              <a:rPr lang="en-VU"/>
              <a:t>Working through fatigue to meet deadlines.</a:t>
            </a:r>
          </a:p>
          <a:p>
            <a:r>
              <a:rPr lang="en-VU"/>
              <a:t>Overcommitment to school work and clubs.</a:t>
            </a:r>
          </a:p>
          <a:p>
            <a:pPr lvl="1"/>
            <a:endParaRPr lang="en-VU"/>
          </a:p>
          <a:p>
            <a:pPr lvl="1"/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200456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">
            <a:extLst>
              <a:ext uri="{FF2B5EF4-FFF2-40B4-BE49-F238E27FC236}">
                <a16:creationId xmlns:a16="http://schemas.microsoft.com/office/drawing/2014/main" id="{540CF837-40E9-46D4-AC1B-0750F339B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E9A2B51-223D-1BB8-5890-C33214DDA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02062" cy="6858000"/>
          </a:xfrm>
          <a:prstGeom prst="rect">
            <a:avLst/>
          </a:prstGeom>
          <a:ln>
            <a:noFill/>
          </a:ln>
          <a:effectLst>
            <a:outerShdw blurRad="317500" dist="76200" dir="1320000" sx="93000" sy="93000" algn="t" rotWithShape="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A374FF-F14A-017A-0742-6076E0E4E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4" y="671053"/>
            <a:ext cx="4039097" cy="5515896"/>
          </a:xfrm>
        </p:spPr>
        <p:txBody>
          <a:bodyPr anchor="ctr">
            <a:normAutofit/>
          </a:bodyPr>
          <a:lstStyle/>
          <a:p>
            <a:r>
              <a:rPr lang="en-US" sz="4000" dirty="0"/>
              <a:t>D</a:t>
            </a:r>
            <a:r>
              <a:rPr lang="en-VU" sz="4000"/>
              <a:t>ata preparation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F7D9F-1BAF-E85E-BDEA-A2D15A4F7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3084" y="671052"/>
            <a:ext cx="6311416" cy="5515897"/>
          </a:xfrm>
        </p:spPr>
        <p:txBody>
          <a:bodyPr anchor="ctr">
            <a:normAutofit/>
          </a:bodyPr>
          <a:lstStyle/>
          <a:p>
            <a:r>
              <a:rPr lang="en-VU" sz="2000"/>
              <a:t>Data sources</a:t>
            </a:r>
          </a:p>
          <a:p>
            <a:pPr lvl="1"/>
            <a:r>
              <a:rPr lang="en-VU" sz="2000"/>
              <a:t>CDC- National Syndromic Surveillance Program mental health related ER visit rates (Last updated: November 25, 2025)</a:t>
            </a:r>
          </a:p>
          <a:p>
            <a:pPr lvl="1"/>
            <a:r>
              <a:rPr lang="en-VU" sz="2000"/>
              <a:t>CDC- National Health Interview Survey mental health indicators (Last updated: August 27, 2025)</a:t>
            </a:r>
          </a:p>
          <a:p>
            <a:r>
              <a:rPr lang="en-VU" sz="2000"/>
              <a:t>Data cleaning </a:t>
            </a:r>
          </a:p>
          <a:p>
            <a:pPr lvl="1"/>
            <a:r>
              <a:rPr lang="en-VU" sz="2000"/>
              <a:t>Tableau Prep (handle missing values, duplicates, and adjust data types). </a:t>
            </a:r>
          </a:p>
          <a:p>
            <a:r>
              <a:rPr lang="en-VU" sz="2000"/>
              <a:t>Data Visualization</a:t>
            </a:r>
          </a:p>
          <a:p>
            <a:pPr lvl="1"/>
            <a:r>
              <a:rPr lang="en-VU" sz="2000"/>
              <a:t>Tableau Desktop 2025.2</a:t>
            </a:r>
          </a:p>
          <a:p>
            <a:pPr marL="457200" lvl="1" indent="0">
              <a:buNone/>
            </a:pPr>
            <a:endParaRPr lang="en-VU" sz="2000"/>
          </a:p>
          <a:p>
            <a:pPr marL="457200" lvl="1" indent="0">
              <a:buNone/>
            </a:pPr>
            <a:endParaRPr lang="en-VU" sz="2000"/>
          </a:p>
        </p:txBody>
      </p:sp>
    </p:spTree>
    <p:extLst>
      <p:ext uri="{BB962C8B-B14F-4D97-AF65-F5344CB8AC3E}">
        <p14:creationId xmlns:p14="http://schemas.microsoft.com/office/powerpoint/2010/main" val="15972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0C8E45A-8AAB-78A6-2FDF-7758A5827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U"/>
              <a:t>ER visit rates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F3B93EE-71C8-1007-818F-AA5633802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6592" y="2057400"/>
            <a:ext cx="4215434" cy="3811588"/>
          </a:xfrm>
        </p:spPr>
        <p:txBody>
          <a:bodyPr/>
          <a:lstStyle/>
          <a:p>
            <a:endParaRPr lang="en-VU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U" sz="1800"/>
              <a:t>ER visits rates high during pandemic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U" sz="1800"/>
              <a:t>Slightly higher ER rates in 2025 (18-34)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</a:t>
            </a:r>
            <a:r>
              <a:rPr lang="en-VU" sz="1600"/>
              <a:t>igher than end of 2024 (100+ more visits)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U" sz="1800"/>
              <a:t>High ER visit rates for high school students consitently over the 7yrs.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4910AE-61DB-69FC-4E6B-F79BD39302CE}"/>
              </a:ext>
            </a:extLst>
          </p:cNvPr>
          <p:cNvSpPr txBox="1"/>
          <p:nvPr/>
        </p:nvSpPr>
        <p:spPr>
          <a:xfrm>
            <a:off x="6096000" y="5868988"/>
            <a:ext cx="6527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U" sz="1200">
                <a:solidFill>
                  <a:schemeClr val="bg1">
                    <a:lumMod val="50000"/>
                  </a:schemeClr>
                </a:solidFill>
              </a:rPr>
              <a:t>Figure 1: Generated using Tableau Desktop November 30, 2025</a:t>
            </a:r>
          </a:p>
        </p:txBody>
      </p:sp>
      <p:pic>
        <p:nvPicPr>
          <p:cNvPr id="6" name="Content Placeholder 5" descr="A graph of a graph&#10;&#10;AI-generated content may be incorrect.">
            <a:extLst>
              <a:ext uri="{FF2B5EF4-FFF2-40B4-BE49-F238E27FC236}">
                <a16:creationId xmlns:a16="http://schemas.microsoft.com/office/drawing/2014/main" id="{1C84A9D9-C624-1114-6CF3-AD49FE4B1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4101"/>
          <a:stretch>
            <a:fillRect/>
          </a:stretch>
        </p:blipFill>
        <p:spPr>
          <a:xfrm>
            <a:off x="4772025" y="1126435"/>
            <a:ext cx="7325729" cy="4390817"/>
          </a:xfrm>
        </p:spPr>
      </p:pic>
    </p:spTree>
    <p:extLst>
      <p:ext uri="{BB962C8B-B14F-4D97-AF65-F5344CB8AC3E}">
        <p14:creationId xmlns:p14="http://schemas.microsoft.com/office/powerpoint/2010/main" val="1622161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6939D-83E7-81F3-6531-AD21D8682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C801F67-D1E9-7CF6-E6A0-69FFCEEA4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39" y="457200"/>
            <a:ext cx="4347956" cy="1600200"/>
          </a:xfrm>
        </p:spPr>
        <p:txBody>
          <a:bodyPr/>
          <a:lstStyle/>
          <a:p>
            <a:r>
              <a:rPr lang="en-VU"/>
              <a:t>Prevalance of Conditions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AE1CCBB-AC7B-BB21-D720-08946F234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3340" y="2057400"/>
            <a:ext cx="4228686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VU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U" sz="1800"/>
              <a:t>Highest number of any mental health issues.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VU" sz="1600"/>
              <a:t>Several people with mental issues but no specific diagnosis and are not receiving condition specific treatment.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U" sz="1800"/>
              <a:t>Anxiety is second most common in young adults (18- 34yrs)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32CADB-4104-28F0-D1C9-BB659DEB773A}"/>
              </a:ext>
            </a:extLst>
          </p:cNvPr>
          <p:cNvSpPr txBox="1"/>
          <p:nvPr/>
        </p:nvSpPr>
        <p:spPr>
          <a:xfrm>
            <a:off x="6400800" y="4854859"/>
            <a:ext cx="6502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U" sz="1200">
                <a:solidFill>
                  <a:schemeClr val="bg1">
                    <a:lumMod val="50000"/>
                  </a:schemeClr>
                </a:solidFill>
              </a:rPr>
              <a:t>Figure 2: Generated using Tableau Desktop November 30, 2025</a:t>
            </a:r>
          </a:p>
        </p:txBody>
      </p:sp>
      <p:pic>
        <p:nvPicPr>
          <p:cNvPr id="22" name="Content Placeholder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441C90-A7AB-1896-7424-1DD6C95C68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3122" t="17841" r="11830" b="25410"/>
          <a:stretch>
            <a:fillRect/>
          </a:stretch>
        </p:blipFill>
        <p:spPr>
          <a:xfrm>
            <a:off x="5032007" y="1470992"/>
            <a:ext cx="7159993" cy="3383868"/>
          </a:xfrm>
        </p:spPr>
      </p:pic>
    </p:spTree>
    <p:extLst>
      <p:ext uri="{BB962C8B-B14F-4D97-AF65-F5344CB8AC3E}">
        <p14:creationId xmlns:p14="http://schemas.microsoft.com/office/powerpoint/2010/main" val="388387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BE707-9709-24BC-C58A-C4B22AE81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246842E-BC8C-4EAD-9DDD-24F55502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U"/>
              <a:t>Utilization rate (%)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5CE64C-96B2-C294-FF68-FA023EB0D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4313" y="2057400"/>
            <a:ext cx="4387713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VU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U" sz="1800"/>
              <a:t>Rapid increase in use of mental health resources from 2019- 2021.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</a:t>
            </a:r>
            <a:r>
              <a:rPr lang="en-VU" sz="1600"/>
              <a:t>andemic and Post pandemic 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U" sz="1800"/>
              <a:t>Drastic decrease </a:t>
            </a:r>
            <a:r>
              <a:rPr lang="en-US" sz="1800" dirty="0"/>
              <a:t>in utilization from 2021- 2022.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Utilization remains low at 28% from 2022 to 2024.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Utilization mismatches rising ER visits.</a:t>
            </a:r>
            <a:endParaRPr lang="en-VU" sz="1600"/>
          </a:p>
        </p:txBody>
      </p:sp>
      <p:pic>
        <p:nvPicPr>
          <p:cNvPr id="5" name="Content Placeholder 4" descr="A graph showing the growth of a company&#10;&#10;AI-generated content may be incorrect.">
            <a:extLst>
              <a:ext uri="{FF2B5EF4-FFF2-40B4-BE49-F238E27FC236}">
                <a16:creationId xmlns:a16="http://schemas.microsoft.com/office/drawing/2014/main" id="{0DBFC8A2-94AF-576A-D61E-B4EE86A07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3625"/>
          <a:stretch>
            <a:fillRect/>
          </a:stretch>
        </p:blipFill>
        <p:spPr>
          <a:xfrm>
            <a:off x="4772025" y="784759"/>
            <a:ext cx="7300513" cy="4688389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9981E6-5212-4C0A-EFAB-BD9878668B5D}"/>
              </a:ext>
            </a:extLst>
          </p:cNvPr>
          <p:cNvSpPr txBox="1"/>
          <p:nvPr/>
        </p:nvSpPr>
        <p:spPr>
          <a:xfrm>
            <a:off x="5908813" y="5800707"/>
            <a:ext cx="6489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U" sz="1200">
                <a:solidFill>
                  <a:schemeClr val="bg1">
                    <a:lumMod val="50000"/>
                  </a:schemeClr>
                </a:solidFill>
              </a:rPr>
              <a:t>Figure 3: Generated using Tableau Desktop November 30, 2025</a:t>
            </a:r>
          </a:p>
        </p:txBody>
      </p:sp>
    </p:spTree>
    <p:extLst>
      <p:ext uri="{BB962C8B-B14F-4D97-AF65-F5344CB8AC3E}">
        <p14:creationId xmlns:p14="http://schemas.microsoft.com/office/powerpoint/2010/main" val="2006574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19EAD-0837-618B-F238-F1AAAAF0C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937" y="1302706"/>
            <a:ext cx="11624153" cy="3369501"/>
          </a:xfrm>
        </p:spPr>
        <p:txBody>
          <a:bodyPr/>
          <a:lstStyle/>
          <a:p>
            <a:endParaRPr lang="en-VU"/>
          </a:p>
          <a:p>
            <a:endParaRPr lang="en-VU"/>
          </a:p>
          <a:p>
            <a:pPr marL="0" indent="0">
              <a:buNone/>
            </a:pPr>
            <a:r>
              <a:rPr lang="en-VU"/>
              <a:t>Mental health issues are on the </a:t>
            </a:r>
            <a:r>
              <a:rPr lang="en-VU" sz="3600" b="1">
                <a:solidFill>
                  <a:srgbClr val="0070C0"/>
                </a:solidFill>
              </a:rPr>
              <a:t>rise</a:t>
            </a:r>
            <a:r>
              <a:rPr lang="en-VU" sz="3200"/>
              <a:t> </a:t>
            </a:r>
            <a:r>
              <a:rPr lang="en-VU"/>
              <a:t> </a:t>
            </a:r>
          </a:p>
          <a:p>
            <a:pPr marL="0" indent="0">
              <a:buNone/>
            </a:pPr>
            <a:r>
              <a:rPr lang="en-VU"/>
              <a:t>	 yet, the number of people seeking care </a:t>
            </a:r>
            <a:r>
              <a:rPr lang="en-VU" sz="3600" b="1">
                <a:solidFill>
                  <a:srgbClr val="0070C0"/>
                </a:solidFill>
              </a:rPr>
              <a:t>remains low</a:t>
            </a:r>
            <a:r>
              <a:rPr lang="en-VU" sz="3200"/>
              <a:t> </a:t>
            </a:r>
            <a:endParaRPr lang="en-VU"/>
          </a:p>
        </p:txBody>
      </p:sp>
    </p:spTree>
    <p:extLst>
      <p:ext uri="{BB962C8B-B14F-4D97-AF65-F5344CB8AC3E}">
        <p14:creationId xmlns:p14="http://schemas.microsoft.com/office/powerpoint/2010/main" val="3581807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21B59-8CB7-615C-297B-0297E37D9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VU" sz="3400"/>
              <a:t>Current mental health care available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B53A5-6C97-B66D-4FD7-DE82871A8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U"/>
              <a:t>University counselling services through the Student Affairs Center.</a:t>
            </a:r>
          </a:p>
          <a:p>
            <a:pPr lvl="1"/>
            <a:r>
              <a:rPr lang="en-VU"/>
              <a:t>Schedule an appointment. </a:t>
            </a:r>
          </a:p>
          <a:p>
            <a:pPr lvl="1"/>
            <a:r>
              <a:rPr lang="en-VU"/>
              <a:t>Link to resources available to students.</a:t>
            </a:r>
          </a:p>
          <a:p>
            <a:pPr lvl="1"/>
            <a:r>
              <a:rPr lang="en-VU"/>
              <a:t>Emergency resources in times of crisis. </a:t>
            </a:r>
          </a:p>
        </p:txBody>
      </p:sp>
    </p:spTree>
    <p:extLst>
      <p:ext uri="{BB962C8B-B14F-4D97-AF65-F5344CB8AC3E}">
        <p14:creationId xmlns:p14="http://schemas.microsoft.com/office/powerpoint/2010/main" val="841165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238B0-9FDE-0259-D321-2DEDF7F4C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C94873C-DDE5-46EC-2D4F-96F82179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311426"/>
            <a:ext cx="5353878" cy="1600200"/>
          </a:xfrm>
        </p:spPr>
        <p:txBody>
          <a:bodyPr>
            <a:normAutofit/>
          </a:bodyPr>
          <a:lstStyle/>
          <a:p>
            <a:r>
              <a:rPr lang="en-VU" sz="4400"/>
              <a:t>Calm Health app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51D64C3-4012-E146-7AFB-193F9785D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6591" y="1973918"/>
            <a:ext cx="5658677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VU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U" sz="2000"/>
              <a:t>Subscription 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U" sz="2000"/>
              <a:t>Access is invite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U" sz="2000"/>
              <a:t>Board complaint mental health screening tool.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U" sz="2000"/>
              <a:t>Users set mental health goals.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U" sz="2000"/>
              <a:t>In app mindfulness techniques and counselling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U" sz="2000"/>
              <a:t>Pyschologist backed. </a:t>
            </a:r>
          </a:p>
        </p:txBody>
      </p:sp>
      <p:pic>
        <p:nvPicPr>
          <p:cNvPr id="4" name="Content Placeholder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6CDC6A9E-89C8-F02E-C3FA-90A4AF612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34799" y="954156"/>
            <a:ext cx="2323208" cy="4747867"/>
          </a:xfrm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9471065A-5F1F-0F71-4A26-961AAAA6B227}"/>
              </a:ext>
            </a:extLst>
          </p:cNvPr>
          <p:cNvSpPr txBox="1">
            <a:spLocks/>
          </p:cNvSpPr>
          <p:nvPr/>
        </p:nvSpPr>
        <p:spPr>
          <a:xfrm>
            <a:off x="6215269" y="5868988"/>
            <a:ext cx="6658456" cy="517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VU" sz="1200" b="1">
                <a:solidFill>
                  <a:schemeClr val="bg1">
                    <a:lumMod val="50000"/>
                  </a:schemeClr>
                </a:solidFill>
              </a:rPr>
              <a:t>Figure 4:</a:t>
            </a:r>
            <a:r>
              <a:rPr lang="en-VU" sz="1200">
                <a:solidFill>
                  <a:schemeClr val="bg1">
                    <a:lumMod val="50000"/>
                  </a:schemeClr>
                </a:solidFill>
              </a:rPr>
              <a:t> Screenshot from calmhealth.com app taken from on December 01, 2025</a:t>
            </a:r>
          </a:p>
        </p:txBody>
      </p:sp>
    </p:spTree>
    <p:extLst>
      <p:ext uri="{BB962C8B-B14F-4D97-AF65-F5344CB8AC3E}">
        <p14:creationId xmlns:p14="http://schemas.microsoft.com/office/powerpoint/2010/main" val="2884778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B7664-DFD2-B3DF-716F-CA2F0CD0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831" y="211679"/>
            <a:ext cx="9151047" cy="1191718"/>
          </a:xfrm>
        </p:spPr>
        <p:txBody>
          <a:bodyPr>
            <a:normAutofit/>
          </a:bodyPr>
          <a:lstStyle/>
          <a:p>
            <a:r>
              <a:rPr lang="en-VU" sz="3600"/>
              <a:t>Digital mental health screening app on campus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6A114-D7F0-A6BE-5B4D-F47BED2EB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676" y="1775792"/>
            <a:ext cx="10015620" cy="4121426"/>
          </a:xfrm>
        </p:spPr>
        <p:txBody>
          <a:bodyPr>
            <a:normAutofit/>
          </a:bodyPr>
          <a:lstStyle/>
          <a:p>
            <a:r>
              <a:rPr lang="en-VU" sz="2400"/>
              <a:t>Free student access with enrollment.</a:t>
            </a:r>
          </a:p>
          <a:p>
            <a:pPr lvl="1"/>
            <a:r>
              <a:rPr lang="en-VU" sz="2000"/>
              <a:t>University sponsored access.</a:t>
            </a:r>
          </a:p>
          <a:p>
            <a:r>
              <a:rPr lang="en-VU" sz="2400"/>
              <a:t>Included as part of new student orientation.</a:t>
            </a:r>
          </a:p>
          <a:p>
            <a:pPr lvl="1"/>
            <a:r>
              <a:rPr lang="en-VU" sz="2000"/>
              <a:t>Equip freshman with resources to avoid crisis as high school students have highest ER visit rates. </a:t>
            </a:r>
          </a:p>
          <a:p>
            <a:r>
              <a:rPr lang="en-VU" sz="2400"/>
              <a:t>Personalized mental health resources for students identified as high risk  </a:t>
            </a:r>
          </a:p>
          <a:p>
            <a:pPr lvl="1"/>
            <a:r>
              <a:rPr lang="en-US" sz="2000" dirty="0"/>
              <a:t>I</a:t>
            </a:r>
            <a:r>
              <a:rPr lang="en-VU" sz="2000"/>
              <a:t>n app diagnosis</a:t>
            </a:r>
          </a:p>
          <a:p>
            <a:pPr lvl="1"/>
            <a:r>
              <a:rPr lang="en-US" sz="2000" dirty="0"/>
              <a:t>M</a:t>
            </a:r>
            <a:r>
              <a:rPr lang="en-VU" sz="2000"/>
              <a:t>indfulness technique suggestions to calm anxiety</a:t>
            </a:r>
          </a:p>
          <a:p>
            <a:r>
              <a:rPr lang="en-VU" sz="2400"/>
              <a:t>Maintains student privacy</a:t>
            </a:r>
          </a:p>
          <a:p>
            <a:pPr lvl="1"/>
            <a:r>
              <a:rPr lang="en-US" sz="2000" dirty="0"/>
              <a:t>O</a:t>
            </a:r>
            <a:r>
              <a:rPr lang="en-VU" sz="2000"/>
              <a:t>nly counselling services have access to student profiles. </a:t>
            </a:r>
          </a:p>
        </p:txBody>
      </p:sp>
    </p:spTree>
    <p:extLst>
      <p:ext uri="{BB962C8B-B14F-4D97-AF65-F5344CB8AC3E}">
        <p14:creationId xmlns:p14="http://schemas.microsoft.com/office/powerpoint/2010/main" val="1934867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E381-E627-F14A-2665-86FF14DE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8567"/>
          </a:xfrm>
        </p:spPr>
        <p:txBody>
          <a:bodyPr>
            <a:normAutofit/>
          </a:bodyPr>
          <a:lstStyle/>
          <a:p>
            <a:r>
              <a:rPr lang="en-VU" sz="3400"/>
              <a:t>Potential Impacts of the Digital self- screening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BC6A6-DC30-14D8-9F59-985BFCEFB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3534"/>
            <a:ext cx="10515600" cy="3057994"/>
          </a:xfrm>
        </p:spPr>
        <p:txBody>
          <a:bodyPr>
            <a:normAutofit/>
          </a:bodyPr>
          <a:lstStyle/>
          <a:p>
            <a:r>
              <a:rPr lang="en-VU" sz="2400" b="1">
                <a:solidFill>
                  <a:srgbClr val="0070C0"/>
                </a:solidFill>
              </a:rPr>
              <a:t>Early detection</a:t>
            </a:r>
            <a:r>
              <a:rPr lang="en-VU" sz="2400"/>
              <a:t> of mental health issues before crisis.</a:t>
            </a:r>
          </a:p>
          <a:p>
            <a:r>
              <a:rPr lang="en-VU" sz="2400" b="1">
                <a:solidFill>
                  <a:srgbClr val="0070C0"/>
                </a:solidFill>
              </a:rPr>
              <a:t>Reduced stigma </a:t>
            </a:r>
            <a:r>
              <a:rPr lang="en-VU" sz="2400"/>
              <a:t>around mental health issues.</a:t>
            </a:r>
          </a:p>
          <a:p>
            <a:r>
              <a:rPr lang="en-VU" sz="2400"/>
              <a:t>Safer and </a:t>
            </a:r>
            <a:r>
              <a:rPr lang="en-VU" sz="2400" b="1">
                <a:solidFill>
                  <a:srgbClr val="0070C0"/>
                </a:solidFill>
              </a:rPr>
              <a:t>healthier campus</a:t>
            </a:r>
            <a:r>
              <a:rPr lang="en-VU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342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AF0C6-D085-9588-F87D-35EA07B39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U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AF19E-7992-6B73-5A32-55A3DA280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U"/>
              <a:t>Mental health cases are on the rise and so should the the care for individuals suffering from these issues. </a:t>
            </a:r>
          </a:p>
          <a:p>
            <a:r>
              <a:rPr lang="en-VU"/>
              <a:t>A digital app can help students keep track of their mental health status and seek care before crisis. </a:t>
            </a:r>
          </a:p>
        </p:txBody>
      </p:sp>
    </p:spTree>
    <p:extLst>
      <p:ext uri="{BB962C8B-B14F-4D97-AF65-F5344CB8AC3E}">
        <p14:creationId xmlns:p14="http://schemas.microsoft.com/office/powerpoint/2010/main" val="1211599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9FF4-C57D-92A1-D1A0-32A2801AC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VU" sz="340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6FC8D-0A21-F674-B06D-5A78035C0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sz="2400"/>
              <a:t>Knaflic</a:t>
            </a:r>
            <a:r>
              <a:rPr lang="en-US" sz="2400" dirty="0"/>
              <a:t>, C. N. (2025). </a:t>
            </a:r>
            <a:r>
              <a:rPr lang="en-US" sz="2400" i="1" dirty="0"/>
              <a:t>Storytelling with data: A Data Visualization Guide for Business Professionals</a:t>
            </a:r>
            <a:r>
              <a:rPr lang="en-US" sz="2400" dirty="0"/>
              <a:t>. JOHN WILEY. 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sz="2400" dirty="0"/>
              <a:t>Centers for Disease Control and Prevention. (2025, August 27). </a:t>
            </a:r>
            <a:r>
              <a:rPr lang="en-US" sz="2400" i="1" dirty="0"/>
              <a:t>National Health Interview Survey (NHIS) - Mental Health Indicators</a:t>
            </a:r>
            <a:r>
              <a:rPr lang="en-US" sz="2400" dirty="0"/>
              <a:t>. Centers for Disease Control and Prevention. </a:t>
            </a:r>
            <a:r>
              <a:rPr lang="en-US" sz="2400" dirty="0">
                <a:hlinkClick r:id="rId3"/>
              </a:rPr>
              <a:t>https://data.cdc.gov/Mental-Health/National-Health-Interview-Survey-NHIS-Mental-Healt/d89q-62iu/about_data</a:t>
            </a:r>
            <a:r>
              <a:rPr lang="en-US" sz="2400" dirty="0"/>
              <a:t> 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sz="2400" dirty="0"/>
              <a:t>Centers for Disease Control and Prevention. (2025, November 25). </a:t>
            </a:r>
            <a:r>
              <a:rPr lang="en-US" sz="2400" i="1" dirty="0"/>
              <a:t>National Syndromic Surveillance Program (NSSP) mental health-related emergency department visit rates</a:t>
            </a:r>
            <a:r>
              <a:rPr lang="en-US" sz="2400" dirty="0"/>
              <a:t>. Centers for Disease Control and Prevention. </a:t>
            </a:r>
            <a:r>
              <a:rPr lang="en-US" sz="2400" dirty="0">
                <a:hlinkClick r:id="rId4"/>
              </a:rPr>
              <a:t>https://data.cdc.gov/Mental-Health/National-Syndromic-Surveillance-Program-NSSP-Menta/eze9-ahe5/about_data</a:t>
            </a:r>
            <a:r>
              <a:rPr lang="en-US" sz="2400" dirty="0"/>
              <a:t> </a:t>
            </a:r>
          </a:p>
          <a:p>
            <a:pPr marL="514350" indent="-514350">
              <a:buAutoNum type="arabicParenR"/>
            </a:pPr>
            <a:endParaRPr lang="en-US" sz="2400" dirty="0"/>
          </a:p>
          <a:p>
            <a:pPr marL="514350" indent="-514350">
              <a:buAutoNum type="arabicParenR"/>
            </a:pPr>
            <a:endParaRPr lang="en-US" sz="24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55269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E4C72-57CB-9A86-29E8-F2990BF4E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VU" sz="6600"/>
              <a:t>Thank you for our time.  </a:t>
            </a:r>
          </a:p>
          <a:p>
            <a:pPr marL="0" indent="0">
              <a:buNone/>
            </a:pPr>
            <a:r>
              <a:rPr lang="en-VU" sz="660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120813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8028</TotalTime>
  <Words>753</Words>
  <Application>Microsoft Macintosh PowerPoint</Application>
  <PresentationFormat>Widescreen</PresentationFormat>
  <Paragraphs>109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DIGITAL SCREENING APP FOR A HEALTHIER CAMPUS</vt:lpstr>
      <vt:lpstr>Overview </vt:lpstr>
      <vt:lpstr>Background</vt:lpstr>
      <vt:lpstr>Common mental health disorders</vt:lpstr>
      <vt:lpstr>The Hidden Struggle</vt:lpstr>
      <vt:lpstr>Data preparation </vt:lpstr>
      <vt:lpstr>ER visit rates</vt:lpstr>
      <vt:lpstr>Prevalance of Conditions</vt:lpstr>
      <vt:lpstr>Utilization rate (%)</vt:lpstr>
      <vt:lpstr>PowerPoint Presentation</vt:lpstr>
      <vt:lpstr>Current mental health care available</vt:lpstr>
      <vt:lpstr>Calm Health app</vt:lpstr>
      <vt:lpstr>Digital mental health screening app on campus</vt:lpstr>
      <vt:lpstr>Potential Impacts of the Digital self- screening tool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Chimalis Mushambi</dc:creator>
  <cp:lastModifiedBy>Chimalis Mushambi</cp:lastModifiedBy>
  <cp:revision>19</cp:revision>
  <dcterms:created xsi:type="dcterms:W3CDTF">2025-11-15T18:16:24Z</dcterms:created>
  <dcterms:modified xsi:type="dcterms:W3CDTF">2026-05-21T17:23:20Z</dcterms:modified>
</cp:coreProperties>
</file>